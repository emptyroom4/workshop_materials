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4"/>
  </p:notesMasterIdLst>
  <p:sldIdLst>
    <p:sldId id="268" r:id="rId3"/>
    <p:sldId id="291" r:id="rId4"/>
    <p:sldId id="279" r:id="rId5"/>
    <p:sldId id="281" r:id="rId6"/>
    <p:sldId id="257" r:id="rId7"/>
    <p:sldId id="271" r:id="rId8"/>
    <p:sldId id="267" r:id="rId9"/>
    <p:sldId id="263" r:id="rId10"/>
    <p:sldId id="289" r:id="rId11"/>
    <p:sldId id="293" r:id="rId12"/>
    <p:sldId id="290" r:id="rId13"/>
    <p:sldId id="276" r:id="rId14"/>
    <p:sldId id="292" r:id="rId15"/>
    <p:sldId id="272" r:id="rId16"/>
    <p:sldId id="270" r:id="rId17"/>
    <p:sldId id="284" r:id="rId18"/>
    <p:sldId id="283" r:id="rId19"/>
    <p:sldId id="288" r:id="rId20"/>
    <p:sldId id="294" r:id="rId21"/>
    <p:sldId id="285" r:id="rId22"/>
    <p:sldId id="28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501649"/>
    <a:srgbClr val="50164A"/>
    <a:srgbClr val="042433"/>
    <a:srgbClr val="D1D1D1"/>
    <a:srgbClr val="78206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25FCBC-F6FE-20E3-AF49-DB188129205A}" v="2" dt="2026-01-20T15:34:36.283"/>
    <p1510:client id="{CE886567-946D-9441-A598-EF7EBE7F7938}" v="120" dt="2026-01-20T18:46:18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33"/>
    <p:restoredTop sz="49586"/>
  </p:normalViewPr>
  <p:slideViewPr>
    <p:cSldViewPr snapToGrid="0">
      <p:cViewPr>
        <p:scale>
          <a:sx n="119" d="100"/>
          <a:sy n="119" d="100"/>
        </p:scale>
        <p:origin x="208" y="-1264"/>
      </p:cViewPr>
      <p:guideLst/>
    </p:cSldViewPr>
  </p:slid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CE688-E5E8-F843-B3A9-AD00206F1FB7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D89A6-2AA4-104E-92DE-C0BE6A21C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39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 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209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88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58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5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09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64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r>
              <a:rPr lang="en-US" b="1" dirty="0"/>
              <a:t> </a:t>
            </a:r>
            <a:endParaRPr lang="en-US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4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5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51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93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E6EA6-E9CB-B3BC-AE76-EE607159E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0B00E-A74A-09F8-26DA-0A8C48E01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3BC74-8E13-BC7B-9182-2C1D4D5F1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F9D5C-73B0-1D84-33BB-BB6EDE161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43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23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788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</a:t>
            </a:r>
          </a:p>
          <a:p>
            <a:br>
              <a:rPr lang="en-US" dirty="0">
                <a:cs typeface="+mn-lt"/>
              </a:rPr>
            </a:br>
            <a:br>
              <a:rPr lang="en-US" dirty="0">
                <a:cs typeface="+mn-lt"/>
              </a:rPr>
            </a:br>
            <a:r>
              <a:rPr lang="en-US" dirty="0"/>
              <a:t> </a:t>
            </a:r>
          </a:p>
          <a:p>
            <a:endParaRPr lang="en-US" dirty="0"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094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74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3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13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99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 first, for the categorical variables such as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** 2 arrays( Two categorical/ordinal variables forming a grid, and one value per cell (matrix) </a:t>
            </a:r>
          </a:p>
          <a:p>
            <a:r>
              <a:rPr lang="en-US" dirty="0"/>
              <a:t>Matrix vs </a:t>
            </a:r>
            <a:r>
              <a:rPr lang="en-US" dirty="0" err="1"/>
              <a:t>Dataframe</a:t>
            </a:r>
            <a:r>
              <a:rPr lang="en-US" dirty="0"/>
              <a:t>:</a:t>
            </a:r>
          </a:p>
          <a:p>
            <a:r>
              <a:rPr lang="en-US" dirty="0"/>
              <a:t>Matrix : all elements must be the same data type ( all numeric,  or all character, all logical)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Data frame : each column can have its own data -&gt; </a:t>
            </a:r>
            <a:r>
              <a:rPr lang="en-US" b="1" dirty="0"/>
              <a:t>Each cell in the matrix contains a value on the same scale, so higher or lower values correspond to different color intensities in the heatmap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suppose we have two categorical variables that define the rows and columns, and each cell contains a count. A higher number represents a higher frequency.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14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** t-SNE (t-Distributed </a:t>
            </a:r>
            <a:r>
              <a:rPr lang="en-US" dirty="0" err="1"/>
              <a:t>Stochatic</a:t>
            </a:r>
            <a:r>
              <a:rPr lang="en-US" dirty="0"/>
              <a:t> Neighbor Embedding) : Nonlinear dimensionality reduction technique widely used for visualizing high dimensional data in 2D or 3D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X -&gt; y : Hours studied → exam score / Temperature → electricity usage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X1, X2 -&gt; Y : Age group, Gender → Blood pressure / Region, Pollution level → Asthma rate : heatmap visualize three variables : outcome variables are expressed color fill.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D89A6-2AA4-104E-92DE-C0BE6A21C6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94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FE6B-95D6-137B-8946-F8C52FB62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8B106-299B-1395-E133-4F7D1128A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7071-AFC4-006A-40D5-AAA493847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BC8B-BE6E-A14C-99E0-3114F240228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EFF9E-192F-9CAD-6FBB-9F3377313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45F4C-DF6A-03EC-AE87-6671051B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D631-4CE4-0842-8B1B-8E790524D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8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345F-C833-79E8-21AB-6AE284399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BE7A4-2C34-EC65-B5EA-C1D4497E6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61EDE-BFA7-F8E1-7698-2D69D91A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BC8B-BE6E-A14C-99E0-3114F240228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27F32-C96D-8DB8-9F28-0744A118C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263EA-BD3B-2EB0-A7A4-CD5927401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D631-4CE4-0842-8B1B-8E790524D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7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9427-78A8-A113-BC25-58039E6F5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1B87B-3167-3377-D426-417D029F8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B3EA1-75F4-2712-FBD9-DB6FE880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BC8B-BE6E-A14C-99E0-3114F240228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5B34B-4BA3-2CB8-8B53-A6D4A6FA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C8E58-B9E8-206B-0D78-1D63CDF7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D631-4CE4-0842-8B1B-8E790524D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6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68A9E-B606-A26A-0A17-97CB3EC80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1DEE3-99F0-A9D0-B4A2-A181194AE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5654D-A880-A0DE-4B21-323ED5384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8E1DC-4162-23E7-96E8-056AE67AB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BC8B-BE6E-A14C-99E0-3114F240228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967C2-19D8-2BBD-9A1A-6FCC36F35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C678B-D011-3849-8579-9582D010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D631-4CE4-0842-8B1B-8E790524D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40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89EAE-D0A9-58F5-3D74-EE6003451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D3D82-0026-7404-F100-04E99148A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64B05-A958-A043-0199-29168BDBD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92545B-B520-75D1-F314-2A1CF3CD6A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4F7303-938F-6F11-DE71-B41D99913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AF10C-DD51-D2D4-42B5-00D068B0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BC8B-BE6E-A14C-99E0-3114F240228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D024A8-F3DF-F7CE-1F28-DDD71694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17A128-1D38-48AA-9C07-E9A88FF3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D631-4CE4-0842-8B1B-8E790524D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33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08F32-E1C6-54DF-E49A-E018FBBCC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3CE5ED-1C2F-99FB-6762-498D33AA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BC8B-BE6E-A14C-99E0-3114F240228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8D427-C656-D11D-B2AA-5044D884E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6D0463-EF3C-EE26-5E0D-10EA84A8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D631-4CE4-0842-8B1B-8E790524D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1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52285-6039-AF5D-5552-F6D76703A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BC8B-BE6E-A14C-99E0-3114F240228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741EE-94FB-FDF9-372C-4D6FF37CF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8D011-A687-5572-2AD9-CAC3173F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D631-4CE4-0842-8B1B-8E790524D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62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16219-657B-94BF-B3FA-A852A7FBB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E2638-F78D-D21A-3495-E8579754F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16B82-3DD8-448F-2BA9-060069B47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9C8F2-4C2A-8638-09C8-99C01EFA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BC8B-BE6E-A14C-99E0-3114F240228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D1949-8E17-7C7A-A7A1-B7A51512F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EB786-03E5-AB7B-E04D-9FA8486B5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D631-4CE4-0842-8B1B-8E790524D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8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8F0D-4787-9D04-D10D-67EAF643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29CD57-AE9D-685D-5209-0FF8749071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DAF4E-DAA6-C660-D620-012512675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33E06-07A7-AA37-A013-9E33818B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BC8B-BE6E-A14C-99E0-3114F240228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524F2-890D-0E8F-8B36-1042D2BE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476C4-7E8F-4007-EDD4-29923107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D631-4CE4-0842-8B1B-8E790524D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9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DAC2-1AA4-4BB5-4B0B-3C3AB826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FF770-D0D3-4ABA-8E32-CA097DE9B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8F2B9-713A-FF9F-9381-CB486929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BC8B-BE6E-A14C-99E0-3114F240228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CEEF6-C8FE-07EB-4467-896E37267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757B4-20EE-0CE4-F107-AF32A2DA7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D631-4CE4-0842-8B1B-8E790524D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46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F62D13-C8C6-6169-0E9F-F32FBF023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798C6-84D9-22ED-A9A0-B24AB5491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68964-09EA-93DE-09DA-1ACC943FA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BC8B-BE6E-A14C-99E0-3114F240228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E2F09-5D37-FA34-D5D4-E64775A6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5A4D6-EE67-7135-C207-10949AE1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D631-4CE4-0842-8B1B-8E790524D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7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DE5C9-C6B6-193A-145C-C7AA8512A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D652A-98BB-5EB5-7A37-AE36FBC0A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7F89C-5F00-2C62-DC34-CCD584CC6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29030-62A7-4045-A014-3338D8AF3AE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F71B6-1674-52F1-10A0-858501EB9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84CBE-B7FE-0E50-829C-58C45183E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05890-63D5-BA40-A6AF-AAF0220BD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98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1CF3-90DA-F728-1F5A-F2F9E630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2610F-8911-7DCE-5A54-CB6FDE0C1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66287-08AF-8082-887C-B4522414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29030-62A7-4045-A014-3338D8AF3AE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58956-451A-0188-A445-AD76E4C01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46507-2592-988E-16FF-7C96AAFE7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05890-63D5-BA40-A6AF-AAF0220BD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54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1298-460F-6ED5-7633-5EC245175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409D8-2C8A-179B-EA0F-08BBACF3C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81956-2E8C-DDD8-C631-C0EBBE48B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29030-62A7-4045-A014-3338D8AF3AE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4864E-D4A9-D8B8-7F74-5127AC7C3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F4BFF-26A9-9383-FB69-6A9B1B42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05890-63D5-BA40-A6AF-AAF0220BD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54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B80E-84FB-926B-F719-7F9001EC2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530CE-74A6-FDD5-B46B-C00C5CC6F1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E66C2-944A-02FB-26D4-2F2C593CC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FAD9A-910A-5E31-0DE1-C3CBBF69A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29030-62A7-4045-A014-3338D8AF3AE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DDFEA-0E99-75A8-1EF2-A1FC664F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BF26A-433B-E544-044C-57059BD3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05890-63D5-BA40-A6AF-AAF0220BD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82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8615-DCF2-2A36-CE72-0C32F56B2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522FA-2B97-BFA5-8B6E-A8F242513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822E6-52FE-43E7-10D3-FD2D4B3FA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8357FC-1823-E28B-38F2-6CECF2725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58F019-CB24-E2CD-7C35-B48356230D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1740EA-5F0E-4292-8C5A-BCEA2E958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29030-62A7-4045-A014-3338D8AF3AE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9A5BE-E133-D660-CD37-9719A688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438BB1-09CD-70ED-FF3B-3099F4CA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05890-63D5-BA40-A6AF-AAF0220BD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696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5844-73FC-8ADC-CF9C-3F529D4D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A5BF0-4E4D-D083-A4E1-6D452957A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29030-62A7-4045-A014-3338D8AF3AE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07EBE-E59E-DE30-E2CD-6F8555D95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9EDFA-A2B6-01AE-A32E-BF211E271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05890-63D5-BA40-A6AF-AAF0220BD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328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D04840-6173-C306-4F31-C21287F3A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29030-62A7-4045-A014-3338D8AF3AE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515034-94B2-0D86-AF6F-6A2D1D2EB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1C6D1-447A-90F9-4648-DD55E2F12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05890-63D5-BA40-A6AF-AAF0220BD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82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12C7-C7B7-6E0A-1390-F12EDDA3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A35DF-3312-A49A-BC8F-7FC9828EC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C3491-0DD3-DC58-C746-FA3D36B95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F16B6-EA66-26A4-7BCB-4C94C4E43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29030-62A7-4045-A014-3338D8AF3AE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2BB08-AB0E-7286-90F9-4A866D4F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62A0-8C1D-C420-0E10-0F709C896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05890-63D5-BA40-A6AF-AAF0220BD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695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5D491-D0AF-A6B0-7B1A-B6E55E86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9BC412-6D19-98EE-8ABF-2230F37D1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6635E-9721-D3E1-BF8D-025B1127B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664D9-54E7-0760-FA84-FB928812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29030-62A7-4045-A014-3338D8AF3AE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3D45F-3CCB-8151-B092-7EBE50D28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6AA03-968E-906F-F22F-7EB5390D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05890-63D5-BA40-A6AF-AAF0220BD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005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0529E-69AE-0059-F2C6-4D74A0A5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AF1C3-8AA3-0AD8-3CD5-D187DCCC2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2AED5-76AD-08B9-A9FB-4EE7CEC0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29030-62A7-4045-A014-3338D8AF3AE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6351C-D8C9-B22B-D59A-1E2C2B724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F8C81-AE90-1F96-B775-CA66B3A3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05890-63D5-BA40-A6AF-AAF0220BD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48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032E2D-8E07-60AE-BF8A-F5ACDC8D40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16536-911D-3E91-EC60-C9F7A8629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3D6E3-A58C-6BC9-FD8C-5C8F618B2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29030-62A7-4045-A014-3338D8AF3AE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9A520-5C3B-75E9-6F54-7CB13F758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B71C0-F858-08E0-2041-ADB3D5A3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05890-63D5-BA40-A6AF-AAF0220BD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14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52A7B4-B0BB-46C7-16A7-372B51B68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8625D-3C02-2172-91B6-587723275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E1B45-3F55-DC89-BAEA-D41175BE85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5BC8B-BE6E-A14C-99E0-3114F240228B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B0BFE-217D-9CDC-00F6-F2C80A061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33EF8-E98E-2A02-B693-BB2567F8B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5BD631-4CE4-0842-8B1B-8E790524D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46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B0CEED-E102-E1B7-A42A-EA2171122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7CEE-84FE-15DC-65ED-8B7C9599F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B8F2A-6B78-E1DA-730C-926E77BDB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29030-62A7-4045-A014-3338D8AF3AE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DBF4D-FD7C-0FF2-BD4A-2E8600AA8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32FE6-7837-DB99-D901-F8A37171D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05890-63D5-BA40-A6AF-AAF0220BD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98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statlab@virginia.edu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brary.virginia.edu/data/newsletters" TargetMode="External"/><Relationship Id="rId4" Type="http://schemas.openxmlformats.org/officeDocument/2006/relationships/hyperlink" Target="https://library.virginia.edu/data/training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93FA-28B7-83D6-0D6B-F2F7D62F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318" y="1097017"/>
            <a:ext cx="7947193" cy="163817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Exploratory Data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63B8A4-3D4A-4E83-7683-1C9232D3EA7D}"/>
              </a:ext>
            </a:extLst>
          </p:cNvPr>
          <p:cNvSpPr txBox="1"/>
          <p:nvPr/>
        </p:nvSpPr>
        <p:spPr>
          <a:xfrm>
            <a:off x="2430246" y="2643987"/>
            <a:ext cx="661521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Hyeseon Seo</a:t>
            </a:r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46EF5F-5C60-E847-3C2A-D62A86CC3460}"/>
              </a:ext>
            </a:extLst>
          </p:cNvPr>
          <p:cNvSpPr/>
          <p:nvPr/>
        </p:nvSpPr>
        <p:spPr>
          <a:xfrm>
            <a:off x="598311" y="553156"/>
            <a:ext cx="11074400" cy="5881511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rgbClr val="FFC000"/>
                </a:solidFill>
              </a:ln>
            </a:endParaRPr>
          </a:p>
        </p:txBody>
      </p:sp>
      <p:pic>
        <p:nvPicPr>
          <p:cNvPr id="9" name="Picture 8" descr="A close-up of a logo&#10;&#10;AI-generated content may be incorrect.">
            <a:extLst>
              <a:ext uri="{FF2B5EF4-FFF2-40B4-BE49-F238E27FC236}">
                <a16:creationId xmlns:a16="http://schemas.microsoft.com/office/drawing/2014/main" id="{1E7037DF-6EFC-7105-4233-4C8644E3A0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59" t="3520" r="5753" b="-4430"/>
          <a:stretch>
            <a:fillRect/>
          </a:stretch>
        </p:blipFill>
        <p:spPr>
          <a:xfrm>
            <a:off x="4140799" y="4925120"/>
            <a:ext cx="4347410" cy="135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46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85BF-6B12-E94F-1812-A95FBBEC4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245" y="488685"/>
            <a:ext cx="5257800" cy="1325563"/>
          </a:xfrm>
        </p:spPr>
        <p:txBody>
          <a:bodyPr/>
          <a:lstStyle/>
          <a:p>
            <a:r>
              <a:rPr lang="en-US" b="1"/>
              <a:t>Session 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844A5-2B7B-CBD4-AFAD-37864FEC1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6229" y="2162107"/>
            <a:ext cx="8379542" cy="3559174"/>
          </a:xfrm>
        </p:spPr>
        <p:txBody>
          <a:bodyPr>
            <a:normAutofit/>
          </a:bodyPr>
          <a:lstStyle/>
          <a:p>
            <a:r>
              <a:rPr lang="en-US" dirty="0"/>
              <a:t>Research Approaches </a:t>
            </a:r>
          </a:p>
          <a:p>
            <a:r>
              <a:rPr lang="en-US" dirty="0"/>
              <a:t>What Exploratory Data Analysis(EDA) Is</a:t>
            </a:r>
          </a:p>
          <a:p>
            <a:r>
              <a:rPr lang="en-US" dirty="0"/>
              <a:t>EDA vs CDA(Confirmatory Data Analysis)</a:t>
            </a:r>
          </a:p>
          <a:p>
            <a:r>
              <a:rPr lang="en-US" dirty="0"/>
              <a:t>EDA Techniques (by data type &amp; object)</a:t>
            </a:r>
          </a:p>
          <a:p>
            <a:r>
              <a:rPr lang="en-US" dirty="0"/>
              <a:t>Practice 1: Steps &amp; BMI Data</a:t>
            </a:r>
          </a:p>
          <a:p>
            <a:r>
              <a:rPr lang="en-US" dirty="0"/>
              <a:t>Practice 2: Charlottesville Parking Ticket Data</a:t>
            </a:r>
          </a:p>
        </p:txBody>
      </p:sp>
    </p:spTree>
    <p:extLst>
      <p:ext uri="{BB962C8B-B14F-4D97-AF65-F5344CB8AC3E}">
        <p14:creationId xmlns:p14="http://schemas.microsoft.com/office/powerpoint/2010/main" val="294324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90242-41AB-E68D-715C-C58B4D225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254" y="539657"/>
            <a:ext cx="8578522" cy="1027895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latin typeface="Aptos"/>
              </a:rPr>
              <a:t>How Do You Research?</a:t>
            </a:r>
            <a:r>
              <a:rPr lang="en-US" sz="3200" b="1">
                <a:solidFill>
                  <a:srgbClr val="000000"/>
                </a:solidFill>
                <a:latin typeface="Aptos"/>
              </a:rPr>
              <a:t> </a:t>
            </a:r>
            <a:br>
              <a:rPr lang="en-US" sz="3200" b="1">
                <a:solidFill>
                  <a:srgbClr val="000000"/>
                </a:solidFill>
                <a:latin typeface="Aptos"/>
              </a:rPr>
            </a:br>
            <a:r>
              <a:rPr lang="en-US" sz="2800">
                <a:solidFill>
                  <a:schemeClr val="bg2">
                    <a:lumMod val="49000"/>
                  </a:schemeClr>
                </a:solidFill>
                <a:latin typeface="Aptos"/>
              </a:rPr>
              <a:t>Two ways to research </a:t>
            </a:r>
            <a:endParaRPr lang="en-US" sz="280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8BEE49-552C-C99E-D94B-7A506FEBFAD3}"/>
              </a:ext>
            </a:extLst>
          </p:cNvPr>
          <p:cNvSpPr txBox="1"/>
          <p:nvPr/>
        </p:nvSpPr>
        <p:spPr>
          <a:xfrm>
            <a:off x="1253783" y="2377293"/>
            <a:ext cx="9545939" cy="523220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/>
              <a:t>Confirmatory Research (Classical Scientific Method):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762B67-73BE-1E86-0AAF-CF41537FB224}"/>
              </a:ext>
            </a:extLst>
          </p:cNvPr>
          <p:cNvSpPr txBox="1"/>
          <p:nvPr/>
        </p:nvSpPr>
        <p:spPr>
          <a:xfrm>
            <a:off x="1345464" y="5043721"/>
            <a:ext cx="9626012" cy="95410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Vague Idea 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 → </a:t>
            </a:r>
            <a:r>
              <a:rPr lang="en-US" sz="2800">
                <a:solidFill>
                  <a:srgbClr val="000000"/>
                </a:solidFill>
              </a:rPr>
              <a:t>Explore Data(EDA) 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 → </a:t>
            </a:r>
            <a:r>
              <a:rPr lang="en-US" sz="2800" b="1">
                <a:solidFill>
                  <a:srgbClr val="000000"/>
                </a:solidFill>
              </a:rPr>
              <a:t> </a:t>
            </a:r>
            <a:r>
              <a:rPr lang="en-US" sz="2800">
                <a:solidFill>
                  <a:srgbClr val="000000"/>
                </a:solidFill>
              </a:rPr>
              <a:t>Generate Hypothesis 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 → </a:t>
            </a:r>
            <a:endParaRPr lang="en-US" sz="2800" b="1">
              <a:solidFill>
                <a:srgbClr val="000000"/>
              </a:solidFill>
            </a:endParaRPr>
          </a:p>
          <a:p>
            <a:r>
              <a:rPr lang="en-US" sz="2800">
                <a:solidFill>
                  <a:srgbClr val="000000"/>
                </a:solidFill>
              </a:rPr>
              <a:t> Hypothesis test (</a:t>
            </a:r>
            <a:r>
              <a:rPr lang="en-US" sz="2800">
                <a:solidFill>
                  <a:srgbClr val="C00000"/>
                </a:solidFill>
              </a:rPr>
              <a:t> </a:t>
            </a:r>
            <a:r>
              <a:rPr lang="en-US" sz="2800">
                <a:solidFill>
                  <a:srgbClr val="C00000"/>
                </a:solidFill>
                <a:ea typeface="+mn-lt"/>
                <a:cs typeface="+mn-lt"/>
              </a:rPr>
              <a:t>with a separate dataset!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)</a:t>
            </a: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E46405-BAA2-05D9-B42B-FD7DF1D23029}"/>
              </a:ext>
            </a:extLst>
          </p:cNvPr>
          <p:cNvSpPr txBox="1"/>
          <p:nvPr/>
        </p:nvSpPr>
        <p:spPr>
          <a:xfrm>
            <a:off x="1251179" y="3100004"/>
            <a:ext cx="1008433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Hypothesis  </a:t>
            </a:r>
            <a:r>
              <a:rPr lang="en-US" sz="2800" b="1">
                <a:ea typeface="+mn-lt"/>
                <a:cs typeface="+mn-lt"/>
              </a:rPr>
              <a:t> → </a:t>
            </a:r>
            <a:r>
              <a:rPr lang="en-US" sz="2800"/>
              <a:t> Study Design </a:t>
            </a:r>
            <a:r>
              <a:rPr lang="en-US" sz="2800" b="1">
                <a:ea typeface="+mn-lt"/>
                <a:cs typeface="+mn-lt"/>
              </a:rPr>
              <a:t> → </a:t>
            </a:r>
            <a:r>
              <a:rPr lang="en-US" sz="2800"/>
              <a:t> Collect Data </a:t>
            </a:r>
            <a:r>
              <a:rPr lang="en-US" sz="2800" b="1">
                <a:ea typeface="+mn-lt"/>
                <a:cs typeface="+mn-lt"/>
              </a:rPr>
              <a:t> → </a:t>
            </a:r>
            <a:r>
              <a:rPr lang="en-US" sz="2800" b="1"/>
              <a:t> </a:t>
            </a:r>
            <a:r>
              <a:rPr lang="en-US" sz="2800"/>
              <a:t>Analyze  </a:t>
            </a:r>
            <a:r>
              <a:rPr lang="en-US" sz="2800" b="1">
                <a:ea typeface="+mn-lt"/>
                <a:cs typeface="+mn-lt"/>
              </a:rPr>
              <a:t>→ </a:t>
            </a:r>
            <a:r>
              <a:rPr lang="en-US" sz="2800" b="1"/>
              <a:t> </a:t>
            </a:r>
            <a:r>
              <a:rPr lang="en-US" sz="2800"/>
              <a:t>Conclusion</a:t>
            </a:r>
            <a:endParaRPr lang="en-US" sz="28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73FBB1-4A23-3D9D-C77C-9EAC12B6A9BB}"/>
              </a:ext>
            </a:extLst>
          </p:cNvPr>
          <p:cNvSpPr txBox="1"/>
          <p:nvPr/>
        </p:nvSpPr>
        <p:spPr>
          <a:xfrm rot="10800000" flipV="1">
            <a:off x="1347108" y="4398398"/>
            <a:ext cx="9620643" cy="52322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chemeClr val="bg2"/>
                </a:solidFill>
              </a:rPr>
              <a:t>Exploratory Research  (Data-Driven Approach):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65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615FA-9BB1-DE1B-996F-8083BE1B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701" y="2516893"/>
            <a:ext cx="7493652" cy="1325563"/>
          </a:xfrm>
        </p:spPr>
        <p:txBody>
          <a:bodyPr/>
          <a:lstStyle/>
          <a:p>
            <a:r>
              <a:rPr lang="en-US" dirty="0"/>
              <a:t>However, EDA involves both!</a:t>
            </a:r>
          </a:p>
        </p:txBody>
      </p:sp>
    </p:spTree>
    <p:extLst>
      <p:ext uri="{BB962C8B-B14F-4D97-AF65-F5344CB8AC3E}">
        <p14:creationId xmlns:p14="http://schemas.microsoft.com/office/powerpoint/2010/main" val="3423726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0258E-D556-AD27-C1E1-191442B83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27783" cy="1257613"/>
          </a:xfrm>
        </p:spPr>
        <p:txBody>
          <a:bodyPr>
            <a:normAutofit/>
          </a:bodyPr>
          <a:lstStyle/>
          <a:p>
            <a:r>
              <a:rPr lang="en-US"/>
              <a:t>What is EDA</a:t>
            </a:r>
            <a:r>
              <a:rPr lang="en-US" sz="3600">
                <a:solidFill>
                  <a:srgbClr val="000000"/>
                </a:solidFill>
              </a:rPr>
              <a:t>?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04270-D43A-85F9-34C4-6D5588B21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3997"/>
            <a:ext cx="10515600" cy="37475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</a:t>
            </a:r>
            <a:r>
              <a:rPr lang="en-US" i="1" dirty="0"/>
              <a:t>the data might be trying to say</a:t>
            </a:r>
            <a:r>
              <a:rPr lang="en-US" dirty="0"/>
              <a:t>, rather than trying to prove something we already believe.</a:t>
            </a:r>
          </a:p>
          <a:p>
            <a:r>
              <a:rPr lang="en-US" dirty="0"/>
              <a:t>Understand the data before applying formal modeling or statistical inference. </a:t>
            </a:r>
          </a:p>
          <a:p>
            <a:r>
              <a:rPr lang="en-US" dirty="0"/>
              <a:t> Approach it with curiosity, openness, and very few assumptions. </a:t>
            </a:r>
          </a:p>
          <a:p>
            <a:r>
              <a:rPr lang="en-US" dirty="0"/>
              <a:t>Visualizations are a key aspect of EDA!</a:t>
            </a:r>
          </a:p>
        </p:txBody>
      </p:sp>
    </p:spTree>
    <p:extLst>
      <p:ext uri="{BB962C8B-B14F-4D97-AF65-F5344CB8AC3E}">
        <p14:creationId xmlns:p14="http://schemas.microsoft.com/office/powerpoint/2010/main" val="184900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135C3F-17B4-6D25-1EC4-8AEED13F8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322262"/>
              </p:ext>
            </p:extLst>
          </p:nvPr>
        </p:nvGraphicFramePr>
        <p:xfrm>
          <a:off x="2717023" y="544025"/>
          <a:ext cx="8690537" cy="52863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25909">
                  <a:extLst>
                    <a:ext uri="{9D8B030D-6E8A-4147-A177-3AD203B41FA5}">
                      <a16:colId xmlns:a16="http://schemas.microsoft.com/office/drawing/2014/main" val="3962483771"/>
                    </a:ext>
                  </a:extLst>
                </a:gridCol>
                <a:gridCol w="3376391">
                  <a:extLst>
                    <a:ext uri="{9D8B030D-6E8A-4147-A177-3AD203B41FA5}">
                      <a16:colId xmlns:a16="http://schemas.microsoft.com/office/drawing/2014/main" val="2836347352"/>
                    </a:ext>
                  </a:extLst>
                </a:gridCol>
                <a:gridCol w="3188237">
                  <a:extLst>
                    <a:ext uri="{9D8B030D-6E8A-4147-A177-3AD203B41FA5}">
                      <a16:colId xmlns:a16="http://schemas.microsoft.com/office/drawing/2014/main" val="2030627158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EDA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CDA 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385518"/>
                  </a:ext>
                </a:extLst>
              </a:tr>
              <a:tr h="486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Primary Goal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>
                        <a:alpha val="2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Explore, discover patterns, generate questions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>
                        <a:alpha val="2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Test a specific hypothesis or claim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>
                        <a:alpha val="2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71359"/>
                  </a:ext>
                </a:extLst>
              </a:tr>
              <a:tr h="473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Timing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Before</a:t>
                      </a:r>
                      <a:r>
                        <a:rPr lang="en-US" sz="1500"/>
                        <a:t> formal modeling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After</a:t>
                      </a:r>
                      <a:r>
                        <a:rPr lang="en-US" sz="1500"/>
                        <a:t> a hypothesis is defined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72501"/>
                  </a:ext>
                </a:extLst>
              </a:tr>
              <a:tr h="486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Starting Point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Open-minded curiosity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 clear, pre-stated research 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62562"/>
                  </a:ext>
                </a:extLst>
              </a:tr>
              <a:tr h="865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Methods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Visualizations, summaries, clustering, descriptive comparisons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Statistical tests: t-tests, ANOVA, regression, confidence intervals, p-values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117786"/>
                  </a:ext>
                </a:extLst>
              </a:tr>
              <a:tr h="486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Flexibility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Highly flexible; iterative and creative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Structured; follows a predefined plan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604405"/>
                  </a:ext>
                </a:extLst>
              </a:tr>
              <a:tr h="486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Interpretation</a:t>
                      </a:r>
                      <a:endParaRPr lang="en-US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Suggestive (“this might be interesting…”)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Inferential (“this pattern is statistically supported”)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135162"/>
                  </a:ext>
                </a:extLst>
              </a:tr>
              <a:tr h="486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Typical Outputs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Graphs, descriptive statistics, notes,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Test statistics, effect sizes, p-values, model estimates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265902"/>
                  </a:ext>
                </a:extLst>
              </a:tr>
              <a:tr h="486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Mindset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“Let the data speak first.”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“Does the evidence support this specific idea?”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40603"/>
                  </a:ext>
                </a:extLst>
              </a:tr>
            </a:tbl>
          </a:graphicData>
        </a:graphic>
      </p:graphicFrame>
      <p:sp>
        <p:nvSpPr>
          <p:cNvPr id="7" name="Arrow: Pentagon 6">
            <a:extLst>
              <a:ext uri="{FF2B5EF4-FFF2-40B4-BE49-F238E27FC236}">
                <a16:creationId xmlns:a16="http://schemas.microsoft.com/office/drawing/2014/main" id="{1132DA51-4197-A66C-6A37-170E671F297D}"/>
              </a:ext>
            </a:extLst>
          </p:cNvPr>
          <p:cNvSpPr/>
          <p:nvPr/>
        </p:nvSpPr>
        <p:spPr>
          <a:xfrm>
            <a:off x="231562" y="1027629"/>
            <a:ext cx="2322990" cy="4802741"/>
          </a:xfrm>
          <a:prstGeom prst="homePlate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bg2">
                    <a:lumMod val="90000"/>
                  </a:schemeClr>
                </a:solidFill>
                <a:latin typeface="Aptos"/>
                <a:ea typeface="Aptos"/>
                <a:cs typeface="Aptos"/>
              </a:rPr>
              <a:t>EDA vs. CDA</a:t>
            </a:r>
            <a:endParaRPr lang="en-US" sz="2400" b="1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B8F9-18CF-8945-9986-B26CB8F3AD84}"/>
              </a:ext>
            </a:extLst>
          </p:cNvPr>
          <p:cNvSpPr txBox="1"/>
          <p:nvPr/>
        </p:nvSpPr>
        <p:spPr>
          <a:xfrm>
            <a:off x="7062292" y="6312913"/>
            <a:ext cx="489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Adopted from Fife, D. A., &amp; Rodgers, J. L. (2022). </a:t>
            </a:r>
          </a:p>
        </p:txBody>
      </p:sp>
    </p:spTree>
    <p:extLst>
      <p:ext uri="{BB962C8B-B14F-4D97-AF65-F5344CB8AC3E}">
        <p14:creationId xmlns:p14="http://schemas.microsoft.com/office/powerpoint/2010/main" val="204282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AFA0-E149-3865-95BC-C44441064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935" y="656478"/>
            <a:ext cx="10010506" cy="1350879"/>
          </a:xfrm>
        </p:spPr>
        <p:txBody>
          <a:bodyPr>
            <a:normAutofit/>
          </a:bodyPr>
          <a:lstStyle/>
          <a:p>
            <a:r>
              <a:rPr lang="en-US"/>
              <a:t>EDA vs. CDA (</a:t>
            </a:r>
            <a:r>
              <a:rPr lang="en-US">
                <a:solidFill>
                  <a:schemeClr val="bg2">
                    <a:lumMod val="76000"/>
                  </a:schemeClr>
                </a:solidFill>
              </a:rPr>
              <a:t>Confirmatory Data Analysis</a:t>
            </a:r>
            <a:r>
              <a:rPr lang="en-US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74A05-979F-4E04-BB13-A998D5EE7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6183"/>
            <a:ext cx="11228614" cy="28435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0E0E0E"/>
                </a:solidFill>
                <a:cs typeface="Arial"/>
              </a:rPr>
              <a:t>“In EDA the goal is not to draw conclusions regarding guilt and innocence but rather to investigate …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rgbClr val="0E0E0E"/>
                </a:solidFill>
                <a:cs typeface="Arial"/>
              </a:rPr>
              <a:t>The goal of EDA is indictment; the goal of CDA is conviction.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0E0E0E"/>
                </a:solidFill>
                <a:cs typeface="Arial"/>
              </a:rPr>
              <a:t>(</a:t>
            </a:r>
            <a:r>
              <a:rPr lang="en-US" dirty="0">
                <a:solidFill>
                  <a:srgbClr val="0E0E0E"/>
                </a:solidFill>
                <a:ea typeface="+mn-lt"/>
                <a:cs typeface="+mn-lt"/>
              </a:rPr>
              <a:t>Behrens, 1997</a:t>
            </a:r>
            <a:r>
              <a:rPr lang="en-US" dirty="0">
                <a:solidFill>
                  <a:srgbClr val="0E0E0E"/>
                </a:solidFill>
                <a:cs typeface="Arial"/>
              </a:rPr>
              <a:t>).”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1627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CFB5-9742-3771-0A60-863F32901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6781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The Goal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7C7D27-DBE3-52AE-E727-9E5AEAB51422}"/>
              </a:ext>
            </a:extLst>
          </p:cNvPr>
          <p:cNvSpPr txBox="1"/>
          <p:nvPr/>
        </p:nvSpPr>
        <p:spPr>
          <a:xfrm rot="10800000" flipV="1">
            <a:off x="838200" y="2613097"/>
            <a:ext cx="111550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Assess Data quality </a:t>
            </a:r>
          </a:p>
          <a:p>
            <a:r>
              <a:rPr lang="en-US" sz="2400" dirty="0"/>
              <a:t>	Missing values, Outliers and anomalies, Data entry or measurement errors  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9D91C-5263-F332-64AC-A5B40D12D38E}"/>
              </a:ext>
            </a:extLst>
          </p:cNvPr>
          <p:cNvSpPr txBox="1"/>
          <p:nvPr/>
        </p:nvSpPr>
        <p:spPr>
          <a:xfrm>
            <a:off x="929308" y="3924830"/>
            <a:ext cx="92897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Reveal underlying structure</a:t>
            </a:r>
          </a:p>
          <a:p>
            <a:r>
              <a:rPr lang="en-US" sz="2400" dirty="0"/>
              <a:t>	Groups, clusters, trends, and relationships among variables.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3A965E-8E6F-E3D9-5095-4EC16362B001}"/>
              </a:ext>
            </a:extLst>
          </p:cNvPr>
          <p:cNvSpPr txBox="1"/>
          <p:nvPr/>
        </p:nvSpPr>
        <p:spPr>
          <a:xfrm>
            <a:off x="838200" y="5222651"/>
            <a:ext cx="99755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Guide further analysis  </a:t>
            </a:r>
          </a:p>
          <a:p>
            <a:r>
              <a:rPr lang="en-US" sz="2400" dirty="0"/>
              <a:t>	Hypothesis generation and model selection.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4DDA6-9C92-371B-A354-9CE694D86F99}"/>
              </a:ext>
            </a:extLst>
          </p:cNvPr>
          <p:cNvSpPr txBox="1"/>
          <p:nvPr/>
        </p:nvSpPr>
        <p:spPr>
          <a:xfrm>
            <a:off x="838200" y="1545467"/>
            <a:ext cx="81351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1. </a:t>
            </a:r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Get familiar with the data  </a:t>
            </a:r>
          </a:p>
          <a:p>
            <a:r>
              <a:rPr lang="en-US" sz="2400" dirty="0"/>
              <a:t>	Distributions, ranges, shapes and key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13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6C8C-13B9-3B11-D260-A68699824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2483" y="2766218"/>
            <a:ext cx="7167033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EDA Techniques </a:t>
            </a:r>
            <a:br>
              <a:rPr lang="en-US" dirty="0"/>
            </a:br>
            <a:r>
              <a:rPr lang="en-US" dirty="0"/>
              <a:t>	by Data Type and Objective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633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C33B11-7705-01EE-850A-B9F7397B189E}"/>
              </a:ext>
            </a:extLst>
          </p:cNvPr>
          <p:cNvSpPr txBox="1"/>
          <p:nvPr/>
        </p:nvSpPr>
        <p:spPr>
          <a:xfrm>
            <a:off x="654121" y="312187"/>
            <a:ext cx="154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Categorical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95A568-D136-0E6B-C3C4-9F4AC161FC0B}"/>
              </a:ext>
            </a:extLst>
          </p:cNvPr>
          <p:cNvSpPr txBox="1"/>
          <p:nvPr/>
        </p:nvSpPr>
        <p:spPr>
          <a:xfrm>
            <a:off x="2497479" y="3096994"/>
            <a:ext cx="1530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Bivariate </a:t>
            </a:r>
          </a:p>
          <a:p>
            <a:r>
              <a:rPr lang="en-US" b="1" dirty="0">
                <a:solidFill>
                  <a:srgbClr val="C00000"/>
                </a:solidFill>
              </a:rPr>
              <a:t>continuous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DD8AC-C51D-1D90-F1B6-3774D8EFBC4B}"/>
              </a:ext>
            </a:extLst>
          </p:cNvPr>
          <p:cNvSpPr txBox="1"/>
          <p:nvPr/>
        </p:nvSpPr>
        <p:spPr>
          <a:xfrm>
            <a:off x="1592762" y="5420142"/>
            <a:ext cx="1460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2D arrays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7E6A14-C29E-7AE8-04E1-370CA244E701}"/>
              </a:ext>
            </a:extLst>
          </p:cNvPr>
          <p:cNvSpPr txBox="1"/>
          <p:nvPr/>
        </p:nvSpPr>
        <p:spPr>
          <a:xfrm>
            <a:off x="4557359" y="2970641"/>
            <a:ext cx="1759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Multivariate:</a:t>
            </a:r>
          </a:p>
          <a:p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trivariate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3F50A5-2304-B0EA-338C-C80CDDF26D30}"/>
              </a:ext>
            </a:extLst>
          </p:cNvPr>
          <p:cNvSpPr txBox="1"/>
          <p:nvPr/>
        </p:nvSpPr>
        <p:spPr>
          <a:xfrm rot="16200000">
            <a:off x="5171312" y="5220023"/>
            <a:ext cx="20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Multiple groups</a:t>
            </a:r>
          </a:p>
        </p:txBody>
      </p:sp>
      <p:pic>
        <p:nvPicPr>
          <p:cNvPr id="12" name="Picture 11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7B4D74FC-7D84-4F9C-9BD0-78CFDABC2E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1" t="7858" r="8932" b="14762"/>
          <a:stretch>
            <a:fillRect/>
          </a:stretch>
        </p:blipFill>
        <p:spPr>
          <a:xfrm>
            <a:off x="327418" y="797707"/>
            <a:ext cx="2593818" cy="1244940"/>
          </a:xfrm>
          <a:prstGeom prst="rect">
            <a:avLst/>
          </a:prstGeom>
          <a:ln w="9525">
            <a:solidFill>
              <a:schemeClr val="bg2">
                <a:lumMod val="75000"/>
              </a:schemeClr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  <a:softEdge rad="0"/>
          </a:effectLst>
        </p:spPr>
      </p:pic>
      <p:pic>
        <p:nvPicPr>
          <p:cNvPr id="14" name="Picture 13" descr="A graph with black dots&#10;&#10;AI-generated content may be incorrect.">
            <a:extLst>
              <a:ext uri="{FF2B5EF4-FFF2-40B4-BE49-F238E27FC236}">
                <a16:creationId xmlns:a16="http://schemas.microsoft.com/office/drawing/2014/main" id="{9B62F4EC-20C4-8CDA-D1DE-F55E1A9A4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3153" y="761089"/>
            <a:ext cx="2367433" cy="189419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6" name="Picture 15" descr="A graph of tickets by time&#10;&#10;AI-generated content may be incorrect.">
            <a:extLst>
              <a:ext uri="{FF2B5EF4-FFF2-40B4-BE49-F238E27FC236}">
                <a16:creationId xmlns:a16="http://schemas.microsoft.com/office/drawing/2014/main" id="{AF499C7F-6A9E-0C2D-A0A5-81AFC0B7C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4387" y="358200"/>
            <a:ext cx="3034469" cy="189419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20" name="Picture 19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717A24BC-7D5C-3515-ABB6-1DB8FA27E5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872" y="2429556"/>
            <a:ext cx="2367432" cy="2374832"/>
          </a:xfrm>
          <a:prstGeom prst="rect">
            <a:avLst/>
          </a:prstGeom>
        </p:spPr>
      </p:pic>
      <p:pic>
        <p:nvPicPr>
          <p:cNvPr id="24" name="Picture 23" descr="A screenshot of a calendar&#10;&#10;AI-generated content may be incorrect.">
            <a:extLst>
              <a:ext uri="{FF2B5EF4-FFF2-40B4-BE49-F238E27FC236}">
                <a16:creationId xmlns:a16="http://schemas.microsoft.com/office/drawing/2014/main" id="{7080BA8A-7452-15A5-9528-3F5DC39CD4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2836" y="4216362"/>
            <a:ext cx="2563494" cy="237483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26" name="Picture 25" descr="A graph of a number of different colored boxes&#10;&#10;AI-generated content may be incorrect.">
            <a:extLst>
              <a:ext uri="{FF2B5EF4-FFF2-40B4-BE49-F238E27FC236}">
                <a16:creationId xmlns:a16="http://schemas.microsoft.com/office/drawing/2014/main" id="{1D31A70C-C9FE-C2E8-7D7E-6F73C02517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504" y="4570261"/>
            <a:ext cx="2218265" cy="176384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AB42EA5-EEE8-BC41-139A-206C73D7071B}"/>
              </a:ext>
            </a:extLst>
          </p:cNvPr>
          <p:cNvSpPr txBox="1"/>
          <p:nvPr/>
        </p:nvSpPr>
        <p:spPr>
          <a:xfrm rot="16200000">
            <a:off x="5440872" y="874530"/>
            <a:ext cx="1540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Univariate continuous</a:t>
            </a:r>
          </a:p>
        </p:txBody>
      </p:sp>
      <p:pic>
        <p:nvPicPr>
          <p:cNvPr id="29" name="Picture 28" descr="A graph of a graph of different sizes and sizes&#10;&#10;AI-generated content may be incorrect.">
            <a:extLst>
              <a:ext uri="{FF2B5EF4-FFF2-40B4-BE49-F238E27FC236}">
                <a16:creationId xmlns:a16="http://schemas.microsoft.com/office/drawing/2014/main" id="{F31102FF-A414-AF60-447B-283F5532A0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3827" y="2446930"/>
            <a:ext cx="2127797" cy="179845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31" name="Picture 30" descr="A graph of different types of parking&#10;&#10;AI-generated content may be incorrect.">
            <a:extLst>
              <a:ext uri="{FF2B5EF4-FFF2-40B4-BE49-F238E27FC236}">
                <a16:creationId xmlns:a16="http://schemas.microsoft.com/office/drawing/2014/main" id="{2C6F5050-4374-777E-8CE6-B8FD78E72C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8628" y="4439911"/>
            <a:ext cx="2645019" cy="189419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33" name="Picture 32" descr="A graph with dots on it&#10;&#10;AI-generated content may be incorrect.">
            <a:extLst>
              <a:ext uri="{FF2B5EF4-FFF2-40B4-BE49-F238E27FC236}">
                <a16:creationId xmlns:a16="http://schemas.microsoft.com/office/drawing/2014/main" id="{564172E5-C6FD-5C9C-1EF4-57B09296B5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9527" y="2525029"/>
            <a:ext cx="2628900" cy="164225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35" name="Picture 34" descr="A graph with a line&#10;&#10;AI-generated content may be incorrect.">
            <a:extLst>
              <a:ext uri="{FF2B5EF4-FFF2-40B4-BE49-F238E27FC236}">
                <a16:creationId xmlns:a16="http://schemas.microsoft.com/office/drawing/2014/main" id="{51E995BD-E960-B6C4-08B6-0EE9E2999CF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8871" y="681519"/>
            <a:ext cx="2193897" cy="133438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FFF444C-8CFB-BBC1-035E-0E5C52E4ACBC}"/>
              </a:ext>
            </a:extLst>
          </p:cNvPr>
          <p:cNvSpPr/>
          <p:nvPr/>
        </p:nvSpPr>
        <p:spPr>
          <a:xfrm>
            <a:off x="112778" y="120909"/>
            <a:ext cx="11966444" cy="6616182"/>
          </a:xfrm>
          <a:prstGeom prst="rect">
            <a:avLst/>
          </a:prstGeom>
          <a:noFill/>
          <a:ln w="762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D17202-AC9E-BD67-D43B-DD3EC575E11D}"/>
              </a:ext>
            </a:extLst>
          </p:cNvPr>
          <p:cNvSpPr txBox="1"/>
          <p:nvPr/>
        </p:nvSpPr>
        <p:spPr>
          <a:xfrm>
            <a:off x="260213" y="6022593"/>
            <a:ext cx="22507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i="1"/>
              <a:t>Adopted from </a:t>
            </a:r>
            <a:br>
              <a:rPr lang="en-US" sz="1400" i="1"/>
            </a:br>
            <a:r>
              <a:rPr lang="en-US" sz="1400" i="1">
                <a:solidFill>
                  <a:srgbClr val="0E0E0E"/>
                </a:solidFill>
                <a:effectLst/>
                <a:latin typeface=".AppleSystemUIFont"/>
              </a:rPr>
              <a:t>Komorowski et al. (2016).</a:t>
            </a:r>
            <a:endParaRPr lang="en-US" sz="140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269227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0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9EEFD-18F2-2654-F7DC-CCE027A6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9A80-628B-9C1F-926F-388B4311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345" y="2503641"/>
            <a:ext cx="10424788" cy="1325563"/>
          </a:xfrm>
        </p:spPr>
        <p:txBody>
          <a:bodyPr/>
          <a:lstStyle/>
          <a:p>
            <a:r>
              <a:rPr lang="en-US" dirty="0"/>
              <a:t>Let’s move from concepts to </a:t>
            </a:r>
            <a:br>
              <a:rPr lang="en-US" dirty="0"/>
            </a:br>
            <a:r>
              <a:rPr lang="en-US" dirty="0"/>
              <a:t>							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hands-on EDA.</a:t>
            </a:r>
          </a:p>
        </p:txBody>
      </p:sp>
    </p:spTree>
    <p:extLst>
      <p:ext uri="{BB962C8B-B14F-4D97-AF65-F5344CB8AC3E}">
        <p14:creationId xmlns:p14="http://schemas.microsoft.com/office/powerpoint/2010/main" val="2382071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1048-636E-DACA-5CF6-5034882EB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8" y="293914"/>
            <a:ext cx="11168743" cy="6270171"/>
          </a:xfrm>
          <a:solidFill>
            <a:srgbClr val="FFC000"/>
          </a:solidFill>
        </p:spPr>
        <p:txBody>
          <a:bodyPr/>
          <a:lstStyle/>
          <a:p>
            <a:r>
              <a:rPr lang="en-US"/>
              <a:t>	Practice Part 1</a:t>
            </a:r>
            <a:br>
              <a:rPr lang="en-US"/>
            </a:br>
            <a:br>
              <a:rPr lang="en-US"/>
            </a:br>
            <a:r>
              <a:rPr lang="en-US"/>
              <a:t>	A Mini  EDA  with the Steps &amp; BMI dataset</a:t>
            </a:r>
          </a:p>
        </p:txBody>
      </p:sp>
    </p:spTree>
    <p:extLst>
      <p:ext uri="{BB962C8B-B14F-4D97-AF65-F5344CB8AC3E}">
        <p14:creationId xmlns:p14="http://schemas.microsoft.com/office/powerpoint/2010/main" val="4292291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850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48F00-26E1-1339-EB70-401CA0147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01" y="339781"/>
            <a:ext cx="8937937" cy="1514278"/>
          </a:xfrm>
          <a:solidFill>
            <a:schemeClr val="tx2">
              <a:lumMod val="90000"/>
              <a:lumOff val="10000"/>
            </a:schemeClr>
          </a:solidFill>
        </p:spPr>
        <p:txBody>
          <a:bodyPr lIns="457200" tIns="457200" rIns="457200" bIns="45720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Let the Data Speak First: 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gorilla experiment</a:t>
            </a:r>
          </a:p>
        </p:txBody>
      </p:sp>
      <p:pic>
        <p:nvPicPr>
          <p:cNvPr id="8" name="Content Placeholder 7" descr="A screenshot of a book&#10;&#10;AI-generated content may be incorrect.">
            <a:extLst>
              <a:ext uri="{FF2B5EF4-FFF2-40B4-BE49-F238E27FC236}">
                <a16:creationId xmlns:a16="http://schemas.microsoft.com/office/drawing/2014/main" id="{97B201C0-927E-62E0-86CB-9AA71FD31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48056" y="2017430"/>
            <a:ext cx="3886827" cy="41292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9FAA8C-A1D0-899D-A662-0202A09F65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55" t="390" r="4526" b="-1"/>
          <a:stretch>
            <a:fillRect/>
          </a:stretch>
        </p:blipFill>
        <p:spPr>
          <a:xfrm>
            <a:off x="6516708" y="1854059"/>
            <a:ext cx="2768959" cy="4455965"/>
          </a:xfrm>
          <a:prstGeom prst="rect">
            <a:avLst/>
          </a:prstGeom>
        </p:spPr>
      </p:pic>
      <p:pic>
        <p:nvPicPr>
          <p:cNvPr id="6" name="Picture 5" descr="A graph of a monkey&#10;&#10;AI-generated content may be incorrect.">
            <a:extLst>
              <a:ext uri="{FF2B5EF4-FFF2-40B4-BE49-F238E27FC236}">
                <a16:creationId xmlns:a16="http://schemas.microsoft.com/office/drawing/2014/main" id="{C2CE1D67-DE22-A126-57B0-A0340E375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00000">
            <a:off x="5338424" y="979535"/>
            <a:ext cx="5685161" cy="563239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5455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62C6-1223-53E7-3730-F684DE87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86386"/>
            <a:ext cx="8904703" cy="1323170"/>
          </a:xfrm>
          <a:solidFill>
            <a:schemeClr val="tx2">
              <a:lumMod val="90000"/>
              <a:lumOff val="10000"/>
            </a:schemeClr>
          </a:solidFill>
        </p:spPr>
        <p:txBody>
          <a:bodyPr lIns="457200" tIns="457200" rIns="457200" bIns="457200">
            <a:noAutofit/>
          </a:bodyPr>
          <a:lstStyle/>
          <a:p>
            <a:r>
              <a:rPr lang="en-US">
                <a:solidFill>
                  <a:schemeClr val="bg1"/>
                </a:solidFill>
                <a:latin typeface="Aptos"/>
              </a:rPr>
              <a:t>The </a:t>
            </a:r>
            <a:r>
              <a:rPr lang="en-US">
                <a:solidFill>
                  <a:schemeClr val="bg2">
                    <a:lumMod val="90000"/>
                  </a:schemeClr>
                </a:solidFill>
                <a:latin typeface="Aptos"/>
              </a:rPr>
              <a:t>Striking </a:t>
            </a:r>
            <a:r>
              <a:rPr lang="en-US">
                <a:solidFill>
                  <a:schemeClr val="bg1"/>
                </a:solidFill>
                <a:latin typeface="Aptos"/>
              </a:rPr>
              <a:t>Result!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60CC2-8BB1-8EB1-DCD9-F5581158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9556"/>
            <a:ext cx="10515600" cy="38632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  ​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9BF0F7-AD14-26C6-D1A6-9B245371B1E6}"/>
              </a:ext>
            </a:extLst>
          </p:cNvPr>
          <p:cNvSpPr txBox="1"/>
          <p:nvPr/>
        </p:nvSpPr>
        <p:spPr>
          <a:xfrm>
            <a:off x="1719753" y="4641660"/>
            <a:ext cx="8904703" cy="123110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‘Hypothesis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</a:t>
            </a:r>
            <a:r>
              <a:rPr lang="en-US" sz="280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free group’ noticed the hidden pattern :</a:t>
            </a:r>
            <a:endParaRPr lang="en-US" sz="2800"/>
          </a:p>
          <a:p>
            <a:r>
              <a:rPr lang="en-US" sz="2800">
                <a:solidFill>
                  <a:srgbClr val="C00000"/>
                </a:solidFill>
                <a:latin typeface="Aptos"/>
                <a:ea typeface="Segoe UI"/>
                <a:cs typeface="Segoe UI"/>
              </a:rPr>
              <a:t> 2.5</a:t>
            </a:r>
            <a:r>
              <a:rPr lang="en-US" sz="2800" b="0" i="0" u="none" strike="noStrike" baseline="0">
                <a:solidFill>
                  <a:srgbClr val="C00000"/>
                </a:solidFill>
                <a:latin typeface="Aptos"/>
                <a:ea typeface="Segoe UI"/>
                <a:cs typeface="Segoe UI"/>
              </a:rPr>
              <a:t> </a:t>
            </a:r>
            <a:r>
              <a:rPr lang="en-US" sz="2800">
                <a:solidFill>
                  <a:srgbClr val="C00000"/>
                </a:solidFill>
                <a:latin typeface="Aptos"/>
                <a:ea typeface="Segoe UI"/>
                <a:cs typeface="Segoe UI"/>
              </a:rPr>
              <a:t>x higher </a:t>
            </a:r>
            <a:r>
              <a:rPr lang="en-US" sz="280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discovery rate ( 26% vs 64%).</a:t>
            </a:r>
            <a:endParaRPr lang="en-US" sz="2800"/>
          </a:p>
          <a:p>
            <a:pPr algn="ctr"/>
            <a:endParaRPr lang="en-US">
              <a:solidFill>
                <a:srgbClr val="000000"/>
              </a:solidFill>
              <a:latin typeface="Aptos"/>
              <a:ea typeface="Segoe UI"/>
              <a:cs typeface="Arial"/>
            </a:endParaRPr>
          </a:p>
        </p:txBody>
      </p:sp>
      <p:pic>
        <p:nvPicPr>
          <p:cNvPr id="5" name="Picture 4" descr="A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3D456386-D879-EC4E-D4E1-68CE21DBB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754" y="2346397"/>
            <a:ext cx="5862146" cy="170333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6ED1627-CEFD-A62B-6F75-6CA5B53C2051}"/>
              </a:ext>
            </a:extLst>
          </p:cNvPr>
          <p:cNvSpPr/>
          <p:nvPr/>
        </p:nvSpPr>
        <p:spPr>
          <a:xfrm>
            <a:off x="4133784" y="2976166"/>
            <a:ext cx="2690945" cy="452834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34EE5B-EC1E-1094-E012-4B2A0AD8F196}"/>
              </a:ext>
            </a:extLst>
          </p:cNvPr>
          <p:cNvSpPr/>
          <p:nvPr/>
        </p:nvSpPr>
        <p:spPr>
          <a:xfrm>
            <a:off x="4291437" y="3497880"/>
            <a:ext cx="2690945" cy="449014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960059-255B-E7B0-9234-4DED977B688A}"/>
              </a:ext>
            </a:extLst>
          </p:cNvPr>
          <p:cNvSpPr/>
          <p:nvPr/>
        </p:nvSpPr>
        <p:spPr>
          <a:xfrm>
            <a:off x="8575142" y="2890232"/>
            <a:ext cx="1709158" cy="5412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5/19 =0.263 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B5E0A8-9D53-9088-6C70-949412360906}"/>
              </a:ext>
            </a:extLst>
          </p:cNvPr>
          <p:cNvSpPr/>
          <p:nvPr/>
        </p:nvSpPr>
        <p:spPr>
          <a:xfrm>
            <a:off x="8575142" y="3497880"/>
            <a:ext cx="1709158" cy="5412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9/14 =0.643 </a:t>
            </a:r>
          </a:p>
        </p:txBody>
      </p:sp>
      <p:sp>
        <p:nvSpPr>
          <p:cNvPr id="12" name="Arrow: Right 7">
            <a:extLst>
              <a:ext uri="{FF2B5EF4-FFF2-40B4-BE49-F238E27FC236}">
                <a16:creationId xmlns:a16="http://schemas.microsoft.com/office/drawing/2014/main" id="{F81C2DAC-7E7E-6048-0D0F-D06341AAB699}"/>
              </a:ext>
            </a:extLst>
          </p:cNvPr>
          <p:cNvSpPr/>
          <p:nvPr/>
        </p:nvSpPr>
        <p:spPr>
          <a:xfrm>
            <a:off x="7102303" y="3591948"/>
            <a:ext cx="1184929" cy="319858"/>
          </a:xfrm>
          <a:prstGeom prst="rightArrow">
            <a:avLst>
              <a:gd name="adj1" fmla="val 58220"/>
              <a:gd name="adj2" fmla="val 5000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7">
            <a:extLst>
              <a:ext uri="{FF2B5EF4-FFF2-40B4-BE49-F238E27FC236}">
                <a16:creationId xmlns:a16="http://schemas.microsoft.com/office/drawing/2014/main" id="{91585E7F-049F-6F80-8404-A98D199FD428}"/>
              </a:ext>
            </a:extLst>
          </p:cNvPr>
          <p:cNvSpPr/>
          <p:nvPr/>
        </p:nvSpPr>
        <p:spPr>
          <a:xfrm>
            <a:off x="7102303" y="3109999"/>
            <a:ext cx="1184929" cy="319858"/>
          </a:xfrm>
          <a:prstGeom prst="rightArrow">
            <a:avLst>
              <a:gd name="adj1" fmla="val 58220"/>
              <a:gd name="adj2" fmla="val 5000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94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77D1C-E422-CC0D-A50D-B65086C89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42" y="424543"/>
            <a:ext cx="11283043" cy="6025243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ctr"/>
            <a:r>
              <a:rPr lang="en-US" dirty="0"/>
              <a:t>Practice Part 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EDA with </a:t>
            </a:r>
            <a:br>
              <a:rPr lang="en-US" dirty="0"/>
            </a:br>
            <a:r>
              <a:rPr lang="en-US" dirty="0"/>
              <a:t> Charlottesville Parking Ticket Dataset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911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B152-EBDB-DCEC-1B79-61F100425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Workflow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53F24-BFCD-40B8-DDF3-87283886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8421" y="2146852"/>
            <a:ext cx="8955157" cy="367085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Structural Checks</a:t>
            </a:r>
          </a:p>
          <a:p>
            <a:r>
              <a:rPr lang="en-US" dirty="0"/>
              <a:t>Data Cleaning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Time/Date Corrections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Entry error detect / handling</a:t>
            </a:r>
          </a:p>
          <a:p>
            <a:r>
              <a:rPr lang="en-US" dirty="0"/>
              <a:t>Univariate exploration 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Time( seasonality, weekday, hour), Violation Types</a:t>
            </a:r>
          </a:p>
          <a:p>
            <a:r>
              <a:rPr lang="en-US" dirty="0"/>
              <a:t>Bivariate exploration 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Violation types over time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	 Appeals and Grant rates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240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D27E-D01F-7185-7030-8F8E0E7F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2913"/>
            <a:ext cx="8254042" cy="825320"/>
          </a:xfrm>
        </p:spPr>
        <p:txBody>
          <a:bodyPr>
            <a:normAutofit/>
          </a:bodyPr>
          <a:lstStyle/>
          <a:p>
            <a:r>
              <a:rPr lang="en-US" sz="280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885E-F86C-BD8A-8E43-C9ACE0CED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90446"/>
            <a:ext cx="10859219" cy="4978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Behrens, J. T. (1997). Principles and procedures of exploratory data analysis. </a:t>
            </a:r>
            <a:r>
              <a:rPr lang="en-US" sz="1400" i="1" dirty="0"/>
              <a:t>Psychological Methods, 2</a:t>
            </a:r>
            <a:r>
              <a:rPr lang="en-US" sz="1400" dirty="0"/>
              <a:t>(2), 131–160. https://</a:t>
            </a:r>
            <a:r>
              <a:rPr lang="en-US" sz="1400" dirty="0" err="1"/>
              <a:t>doi.org</a:t>
            </a:r>
            <a:r>
              <a:rPr lang="en-US" sz="1400" dirty="0"/>
              <a:t>/10.1037/1082-989X.2.2.131</a:t>
            </a:r>
          </a:p>
          <a:p>
            <a:pPr marL="0" indent="0">
              <a:buNone/>
            </a:pPr>
            <a:r>
              <a:rPr lang="en-US" sz="1400" dirty="0"/>
              <a:t>Fife, D. A., &amp; Rodgers, J. L. (2022). Understanding the exploratory/confirmatory data analysis continuum: Moving beyond the “replication crisis.” </a:t>
            </a:r>
            <a:r>
              <a:rPr lang="en-US" sz="1400" i="1" dirty="0"/>
              <a:t>American Psychologist, 77</a:t>
            </a:r>
            <a:r>
              <a:rPr lang="en-US" sz="1400" dirty="0"/>
              <a:t>(3), 453–466. https://</a:t>
            </a:r>
            <a:r>
              <a:rPr lang="en-US" sz="1400" dirty="0" err="1"/>
              <a:t>doi.org</a:t>
            </a:r>
            <a:r>
              <a:rPr lang="en-US" sz="1400" dirty="0"/>
              <a:t>/10.1037/amp0000886</a:t>
            </a:r>
          </a:p>
          <a:p>
            <a:pPr marL="0" indent="0">
              <a:buNone/>
            </a:pPr>
            <a:r>
              <a:rPr lang="en-US" sz="1400" dirty="0"/>
              <a:t>In S. L. Stern, P. J. Bakken, &amp; M. K. Nguyen (Eds.), </a:t>
            </a:r>
            <a:r>
              <a:rPr lang="en-US" sz="1400" i="1" dirty="0"/>
              <a:t>Secondary analysis of electronic health records</a:t>
            </a:r>
            <a:r>
              <a:rPr lang="en-US" sz="1400" dirty="0"/>
              <a:t> (pp. 185–207). Springer. https://</a:t>
            </a:r>
            <a:r>
              <a:rPr lang="en-US" sz="1400" dirty="0" err="1"/>
              <a:t>doi.org</a:t>
            </a:r>
            <a:r>
              <a:rPr lang="en-US" sz="1400" dirty="0"/>
              <a:t>/10.1007/978-3-319-43742-2_15</a:t>
            </a:r>
          </a:p>
          <a:p>
            <a:pPr marL="0" indent="0">
              <a:buNone/>
            </a:pPr>
            <a:r>
              <a:rPr lang="en-US" sz="1400" dirty="0"/>
              <a:t>Komorowski, M., Marshall, D. C., </a:t>
            </a:r>
            <a:r>
              <a:rPr lang="en-US" sz="1400" dirty="0" err="1"/>
              <a:t>Salciccioli</a:t>
            </a:r>
            <a:r>
              <a:rPr lang="en-US" sz="1400" dirty="0"/>
              <a:t>, J. D., &amp; </a:t>
            </a:r>
            <a:r>
              <a:rPr lang="en-US" sz="1400" dirty="0" err="1"/>
              <a:t>Crutain</a:t>
            </a:r>
            <a:r>
              <a:rPr lang="en-US" sz="1400" dirty="0"/>
              <a:t>, Y. (2016). Exploratory data analysis.</a:t>
            </a:r>
          </a:p>
          <a:p>
            <a:pPr marL="0" indent="0">
              <a:buNone/>
            </a:pPr>
            <a:r>
              <a:rPr lang="en-US" sz="1400" dirty="0"/>
              <a:t>Lange, F., Wilcke, J., Hoffmann, S., Herrmann, M., &amp; Boulesteix, A. (2025). On “confirmatory” methodological research in statistics and related fields. </a:t>
            </a:r>
            <a:r>
              <a:rPr lang="en-US" sz="1400" i="1" dirty="0"/>
              <a:t>In press.</a:t>
            </a:r>
          </a:p>
          <a:p>
            <a:pPr marL="0" indent="0">
              <a:buNone/>
            </a:pPr>
            <a:r>
              <a:rPr lang="en-US" sz="1400" dirty="0"/>
              <a:t>Tukey, J. W. (1977). </a:t>
            </a:r>
            <a:r>
              <a:rPr lang="en-US" sz="1400" i="1" dirty="0"/>
              <a:t>Exploratory Data Analysis.</a:t>
            </a:r>
          </a:p>
          <a:p>
            <a:pPr marL="0" indent="0">
              <a:buNone/>
            </a:pPr>
            <a:r>
              <a:rPr lang="en-US" sz="1400" dirty="0"/>
              <a:t>Yanai, I., &amp; Lercher, M. J. (2020). A hypothesis is a liability. </a:t>
            </a:r>
            <a:r>
              <a:rPr lang="en-US" sz="1400" i="1" dirty="0"/>
              <a:t>Genome Biology, 21</a:t>
            </a:r>
            <a:r>
              <a:rPr lang="en-US" sz="1400" dirty="0"/>
              <a:t>, 231. https://</a:t>
            </a:r>
            <a:r>
              <a:rPr lang="en-US" sz="1400" dirty="0" err="1"/>
              <a:t>doi.org</a:t>
            </a:r>
            <a:r>
              <a:rPr lang="en-US" sz="1400" dirty="0"/>
              <a:t>/10.1186/s13059-020-02133-w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Original cognitive psychology experiment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Simons, D. J. (2009, November 20). </a:t>
            </a:r>
            <a:r>
              <a:rPr lang="en-US" sz="1400" i="1" dirty="0"/>
              <a:t>The original gorilla experiment</a:t>
            </a:r>
            <a:r>
              <a:rPr lang="en-US" sz="1400" dirty="0"/>
              <a:t> [Video]. YouTube. https://</a:t>
            </a:r>
            <a:r>
              <a:rPr lang="en-US" sz="1400" dirty="0" err="1"/>
              <a:t>www.youtube.com</a:t>
            </a:r>
            <a:r>
              <a:rPr lang="en-US" sz="1400" dirty="0"/>
              <a:t>/</a:t>
            </a:r>
            <a:r>
              <a:rPr lang="en-US" sz="1400" dirty="0" err="1"/>
              <a:t>watch?v</a:t>
            </a:r>
            <a:r>
              <a:rPr lang="en-US" sz="1400" dirty="0"/>
              <a:t>=vJG698U2Mvo</a:t>
            </a:r>
            <a:br>
              <a:rPr lang="en-US" sz="1400" dirty="0"/>
            </a:b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400" b="1" dirty="0"/>
              <a:t>How to draw a gorilla scatterplot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StatQuest</a:t>
            </a:r>
            <a:r>
              <a:rPr lang="en-US" sz="1400" dirty="0"/>
              <a:t> with Josh Starmer. (2023). </a:t>
            </a:r>
            <a:r>
              <a:rPr lang="en-US" sz="1400" i="1" dirty="0"/>
              <a:t>How to draw a gorilla scatter plot</a:t>
            </a:r>
            <a:r>
              <a:rPr lang="en-US" sz="1400" dirty="0"/>
              <a:t> [Video]. YouTube. https://</a:t>
            </a:r>
            <a:r>
              <a:rPr lang="en-US" sz="1400" dirty="0" err="1"/>
              <a:t>www.youtube.com</a:t>
            </a:r>
            <a:r>
              <a:rPr lang="en-US" sz="1400" dirty="0"/>
              <a:t>/</a:t>
            </a:r>
            <a:r>
              <a:rPr lang="en-US" sz="1400" dirty="0" err="1"/>
              <a:t>watch?v</a:t>
            </a:r>
            <a:r>
              <a:rPr lang="en-US" sz="1400" dirty="0"/>
              <a:t>=T-kxUB29t0o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088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29356-0F6A-A705-7D0A-A18E01ABF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5219" y="2138719"/>
            <a:ext cx="7530134" cy="4167808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    Contact us for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free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statistical consulting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:  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	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  <a:hlinkClick r:id="rId3"/>
              </a:rPr>
              <a:t>statlab@virginia.edu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 </a:t>
            </a:r>
            <a:br>
              <a:rPr lang="en-US" altLang="en-US" sz="2000" dirty="0">
                <a:latin typeface="Arial" panose="020B0604020202020204" pitchFamily="34" charset="0"/>
              </a:rPr>
            </a:b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    Sign up for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more workshops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or see past workshops: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	</a:t>
            </a:r>
            <a:r>
              <a:rPr lang="en-US" altLang="en-US" sz="2000" dirty="0">
                <a:solidFill>
                  <a:srgbClr val="0078D4"/>
                </a:solidFill>
                <a:latin typeface="Arial" panose="020B0604020202020204" pitchFamily="34" charset="0"/>
                <a:ea typeface="Aptos" panose="020B0004020202020204" pitchFamily="34" charset="0"/>
                <a:hlinkClick r:id="rId4" tooltip="https://library.virginia.edu/data/training"/>
              </a:rPr>
              <a:t>https://library.virginia.edu/data/training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 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 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    Register for the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Research Data Services newsletter 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 	(get notified of new workshops):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	</a:t>
            </a:r>
            <a:r>
              <a:rPr lang="en-US" altLang="en-US" sz="2000" dirty="0">
                <a:solidFill>
                  <a:srgbClr val="0078D4"/>
                </a:solidFill>
                <a:latin typeface="Arial" panose="020B0604020202020204" pitchFamily="34" charset="0"/>
                <a:ea typeface="Aptos" panose="020B0004020202020204" pitchFamily="34" charset="0"/>
                <a:hlinkClick r:id="rId5" tooltip="https://library.virginia.edu/data/newsletters"/>
              </a:rPr>
              <a:t>https://library.virginia.edu/data/newsletters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    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FE4D38-42A8-6B06-5559-0CB49344D56B}"/>
              </a:ext>
            </a:extLst>
          </p:cNvPr>
          <p:cNvSpPr txBox="1"/>
          <p:nvPr/>
        </p:nvSpPr>
        <p:spPr>
          <a:xfrm>
            <a:off x="1935219" y="829769"/>
            <a:ext cx="63965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400" b="1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Thanks for coming!</a:t>
            </a:r>
          </a:p>
        </p:txBody>
      </p:sp>
    </p:spTree>
    <p:extLst>
      <p:ext uri="{BB962C8B-B14F-4D97-AF65-F5344CB8AC3E}">
        <p14:creationId xmlns:p14="http://schemas.microsoft.com/office/powerpoint/2010/main" val="2230401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0212-FE24-B677-2B04-E289DD7E4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99" y="590436"/>
            <a:ext cx="9194801" cy="679564"/>
          </a:xfrm>
        </p:spPr>
        <p:txBody>
          <a:bodyPr>
            <a:normAutofit fontScale="90000"/>
          </a:bodyPr>
          <a:lstStyle/>
          <a:p>
            <a:r>
              <a:rPr lang="en-US"/>
              <a:t> </a:t>
            </a:r>
            <a:r>
              <a:rPr lang="en-US" sz="3100"/>
              <a:t>EDA techniques by data type 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4A4124-F807-6BEF-DEFD-47D1E5801DC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30300" y="1506070"/>
          <a:ext cx="9755414" cy="4350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8382">
                  <a:extLst>
                    <a:ext uri="{9D8B030D-6E8A-4147-A177-3AD203B41FA5}">
                      <a16:colId xmlns:a16="http://schemas.microsoft.com/office/drawing/2014/main" val="2543960729"/>
                    </a:ext>
                  </a:extLst>
                </a:gridCol>
                <a:gridCol w="6507032">
                  <a:extLst>
                    <a:ext uri="{9D8B030D-6E8A-4147-A177-3AD203B41FA5}">
                      <a16:colId xmlns:a16="http://schemas.microsoft.com/office/drawing/2014/main" val="3563124795"/>
                    </a:ext>
                  </a:extLst>
                </a:gridCol>
              </a:tblGrid>
              <a:tr h="54964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Type of data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Suggested EDA Technique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121232"/>
                  </a:ext>
                </a:extLst>
              </a:tr>
              <a:tr h="549643">
                <a:tc>
                  <a:txBody>
                    <a:bodyPr/>
                    <a:lstStyle/>
                    <a:p>
                      <a:r>
                        <a:rPr lang="en-US"/>
                        <a:t>Categorical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Descriptive statistics ( e.g., frequency count, proportions/ percentages, mode, 2-way table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913178"/>
                  </a:ext>
                </a:extLst>
              </a:tr>
              <a:tr h="549643">
                <a:tc>
                  <a:txBody>
                    <a:bodyPr/>
                    <a:lstStyle/>
                    <a:p>
                      <a:r>
                        <a:rPr lang="en-US"/>
                        <a:t>Univariate 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Dot/Line plot, Histograms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47196"/>
                  </a:ext>
                </a:extLst>
              </a:tr>
              <a:tr h="549643">
                <a:tc>
                  <a:txBody>
                    <a:bodyPr/>
                    <a:lstStyle/>
                    <a:p>
                      <a:r>
                        <a:rPr lang="en-US"/>
                        <a:t>Bivariate 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2D scatter plots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589310"/>
                  </a:ext>
                </a:extLst>
              </a:tr>
              <a:tr h="549643">
                <a:tc>
                  <a:txBody>
                    <a:bodyPr/>
                    <a:lstStyle/>
                    <a:p>
                      <a:r>
                        <a:rPr lang="en-US"/>
                        <a:t>2D arrays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Heatmap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9440485"/>
                  </a:ext>
                </a:extLst>
              </a:tr>
              <a:tr h="961874">
                <a:tc>
                  <a:txBody>
                    <a:bodyPr/>
                    <a:lstStyle/>
                    <a:p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Multivariate: </a:t>
                      </a:r>
                      <a:r>
                        <a:rPr lang="en-US" sz="1800" b="0" i="0" u="none" strike="noStrike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trivariate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3D scatter plot or 2D scatter plot with a 3rd variable represented in different color, shape or size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538363"/>
                  </a:ext>
                </a:extLst>
              </a:tr>
              <a:tr h="549643">
                <a:tc>
                  <a:txBody>
                    <a:bodyPr/>
                    <a:lstStyle/>
                    <a:p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Multiple groups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Side-by-side boxplot, Faceted plots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36051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A3466D6-DDD9-CE87-42C4-027E3DA511D0}"/>
              </a:ext>
            </a:extLst>
          </p:cNvPr>
          <p:cNvSpPr txBox="1"/>
          <p:nvPr/>
        </p:nvSpPr>
        <p:spPr>
          <a:xfrm>
            <a:off x="6230139" y="6082898"/>
            <a:ext cx="480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Adopted from Komorowski et al. (2016).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01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B8DC-5C14-8B90-C1E6-B50BA17CA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650" y="334962"/>
            <a:ext cx="9791700" cy="549275"/>
          </a:xfrm>
        </p:spPr>
        <p:txBody>
          <a:bodyPr>
            <a:normAutofit fontScale="90000"/>
          </a:bodyPr>
          <a:lstStyle/>
          <a:p>
            <a:r>
              <a:rPr lang="en-US"/>
              <a:t> </a:t>
            </a:r>
            <a:r>
              <a:rPr lang="en-US" sz="3100"/>
              <a:t>EDA Techniques by Objective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DB1A083-C047-CAE0-2B80-ED930E77A57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30300" y="1168832"/>
          <a:ext cx="9931400" cy="4680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90">
                  <a:extLst>
                    <a:ext uri="{9D8B030D-6E8A-4147-A177-3AD203B41FA5}">
                      <a16:colId xmlns:a16="http://schemas.microsoft.com/office/drawing/2014/main" val="1250533054"/>
                    </a:ext>
                  </a:extLst>
                </a:gridCol>
                <a:gridCol w="5029610">
                  <a:extLst>
                    <a:ext uri="{9D8B030D-6E8A-4147-A177-3AD203B41FA5}">
                      <a16:colId xmlns:a16="http://schemas.microsoft.com/office/drawing/2014/main" val="704937339"/>
                    </a:ext>
                  </a:extLst>
                </a:gridCol>
              </a:tblGrid>
              <a:tr h="7534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effectLst/>
                          <a:latin typeface="+mn-lt"/>
                        </a:rPr>
                        <a:t>Objective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effectLst/>
                          <a:latin typeface="+mn-lt"/>
                        </a:rPr>
                        <a:t>Suggested EDA techniques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960863"/>
                  </a:ext>
                </a:extLst>
              </a:tr>
              <a:tr h="6144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effectLst/>
                          <a:latin typeface="+mn-lt"/>
                        </a:rPr>
                        <a:t>Getting an idea of the distribution of a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effectLst/>
                          <a:latin typeface="+mn-lt"/>
                        </a:rPr>
                        <a:t>Histogram, Density plot, Box plot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3357993"/>
                  </a:ext>
                </a:extLst>
              </a:tr>
              <a:tr h="6046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effectLst/>
                          <a:latin typeface="+mn-lt"/>
                        </a:rPr>
                        <a:t>Finding outliers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effectLst/>
                          <a:latin typeface="+mn-lt"/>
                        </a:rPr>
                        <a:t>Histogram, scatterplots, box-and-whisker plots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219501"/>
                  </a:ext>
                </a:extLst>
              </a:tr>
              <a:tr h="1326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effectLst/>
                          <a:latin typeface="+mn-lt"/>
                        </a:rPr>
                        <a:t>Quantify the relationship between two variables (one exposure (x)  and one outcome (y) )</a:t>
                      </a:r>
                    </a:p>
                    <a:p>
                      <a:pPr algn="l"/>
                      <a:endParaRPr lang="en-US" b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b="0">
                          <a:effectLst/>
                          <a:latin typeface="+mn-lt"/>
                        </a:rPr>
                        <a:t>2D scatter plot + curve fitting ( e.g., LOESS smoothing, GAM smoothing) ,  Covariance and correlation</a:t>
                      </a:r>
                    </a:p>
                    <a:p>
                      <a:pPr algn="l"/>
                      <a:endParaRPr lang="en-US" b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393477"/>
                  </a:ext>
                </a:extLst>
              </a:tr>
              <a:tr h="9673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effectLst/>
                          <a:latin typeface="+mn-lt"/>
                        </a:rPr>
                        <a:t>Visualize the relationship between two exposure(x1 and X2) variables and one outcome (y)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effectLst/>
                          <a:latin typeface="+mn-lt"/>
                        </a:rPr>
                        <a:t>Heatmap, Faceted 2D plots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056455"/>
                  </a:ext>
                </a:extLst>
              </a:tr>
              <a:tr h="4139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effectLst/>
                          <a:latin typeface="+mn-lt"/>
                        </a:rPr>
                        <a:t>Visualization of high-dimensional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effectLst/>
                          <a:latin typeface="+mn-lt"/>
                        </a:rPr>
                        <a:t>PCA + 2D/3D scatterplot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61140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F4B1A60-C331-3838-77F0-9200ECAA655E}"/>
              </a:ext>
            </a:extLst>
          </p:cNvPr>
          <p:cNvSpPr txBox="1"/>
          <p:nvPr/>
        </p:nvSpPr>
        <p:spPr>
          <a:xfrm>
            <a:off x="7211961" y="6365558"/>
            <a:ext cx="4203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/>
              <a:t>Adopted from </a:t>
            </a:r>
            <a:r>
              <a:rPr lang="en-US" i="1">
                <a:solidFill>
                  <a:srgbClr val="0E0E0E"/>
                </a:solidFill>
                <a:effectLst/>
                <a:latin typeface=".AppleSystemUIFont"/>
              </a:rPr>
              <a:t>Komorowski et al. (2016).</a:t>
            </a:r>
            <a:endParaRPr lang="en-US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2330897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1417</Words>
  <Application>Microsoft Macintosh PowerPoint</Application>
  <PresentationFormat>Widescreen</PresentationFormat>
  <Paragraphs>189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.AppleSystemUIFont</vt:lpstr>
      <vt:lpstr>Aptos</vt:lpstr>
      <vt:lpstr>Aptos Display</vt:lpstr>
      <vt:lpstr>Arial</vt:lpstr>
      <vt:lpstr>Calibri</vt:lpstr>
      <vt:lpstr>Office Theme</vt:lpstr>
      <vt:lpstr>Office Theme</vt:lpstr>
      <vt:lpstr>Exploratory Data Analysis</vt:lpstr>
      <vt:lpstr>Session Overview</vt:lpstr>
      <vt:lpstr>How Do You Research?  Two ways to research </vt:lpstr>
      <vt:lpstr>However, EDA involves both!</vt:lpstr>
      <vt:lpstr>What is EDA?</vt:lpstr>
      <vt:lpstr>PowerPoint Presentation</vt:lpstr>
      <vt:lpstr>EDA vs. CDA (Confirmatory Data Analysis)</vt:lpstr>
      <vt:lpstr>The Goal </vt:lpstr>
      <vt:lpstr>EDA Techniques   by Data Type and Objective </vt:lpstr>
      <vt:lpstr>PowerPoint Presentation</vt:lpstr>
      <vt:lpstr>Let’s move from concepts to         hands-on EDA.</vt:lpstr>
      <vt:lpstr> Practice Part 1   A Mini  EDA  with the Steps &amp; BMI dataset</vt:lpstr>
      <vt:lpstr>PowerPoint Presentation</vt:lpstr>
      <vt:lpstr>Let the Data Speak First:    The gorilla experiment</vt:lpstr>
      <vt:lpstr>The Striking Result!</vt:lpstr>
      <vt:lpstr>Practice Part 2  EDA with   Charlottesville Parking Ticket Dataset </vt:lpstr>
      <vt:lpstr>Workflow Summary</vt:lpstr>
      <vt:lpstr>Reference</vt:lpstr>
      <vt:lpstr>PowerPoint Presentation</vt:lpstr>
      <vt:lpstr> EDA techniques by data type </vt:lpstr>
      <vt:lpstr> EDA Techniques by Objective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Seo, Hyeseon (yxt7pg)</dc:creator>
  <cp:lastModifiedBy>Seo, Hyeseon (yxt7pg)</cp:lastModifiedBy>
  <cp:revision>9</cp:revision>
  <dcterms:created xsi:type="dcterms:W3CDTF">2025-11-05T15:37:08Z</dcterms:created>
  <dcterms:modified xsi:type="dcterms:W3CDTF">2026-01-20T18:59:26Z</dcterms:modified>
</cp:coreProperties>
</file>